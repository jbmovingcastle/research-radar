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63795600b44eb" /><Relationship Type="http://schemas.openxmlformats.org/officeDocument/2006/relationships/extended-properties" Target="/docProps/app.xml" Id="R83e8038b29e143d0" /><Relationship Type="http://schemas.openxmlformats.org/officeDocument/2006/relationships/officeDocument" Target="/ppt/presentation.xml" Id="R240bd0309cff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fe19c3b7f4b45"/>
  </p:sldMasterIdLst>
  <p:notesMasterIdLst>
    <p:notesMasterId xmlns:r="http://schemas.openxmlformats.org/officeDocument/2006/relationships" r:id="R6906d2ab9fec4638"/>
  </p:notesMasterIdLst>
  <p:sldIdLst>
    <p:sldId xmlns:r="http://schemas.openxmlformats.org/officeDocument/2006/relationships" id="256" r:id="R527cd5c680c744b4"/>
    <p:sldId xmlns:r="http://schemas.openxmlformats.org/officeDocument/2006/relationships" id="257" r:id="R5be687efac004272"/>
    <p:sldId xmlns:r="http://schemas.openxmlformats.org/officeDocument/2006/relationships" id="258" r:id="Rc76eceb1d8de4eaf"/>
    <p:sldId xmlns:r="http://schemas.openxmlformats.org/officeDocument/2006/relationships" id="259" r:id="Rb667abcd44cf408b"/>
    <p:sldId xmlns:r="http://schemas.openxmlformats.org/officeDocument/2006/relationships" id="260" r:id="R066190b47f164800"/>
    <p:sldId xmlns:r="http://schemas.openxmlformats.org/officeDocument/2006/relationships" id="261" r:id="Rb192efe6f8054e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0316136bd4986" /><Relationship Type="http://schemas.openxmlformats.org/officeDocument/2006/relationships/slideMaster" Target="/ppt/slideMasters/slideMaster1.xml" Id="R355fe19c3b7f4b45" /><Relationship Type="http://schemas.openxmlformats.org/officeDocument/2006/relationships/notesMaster" Target="/ppt/notesMasters/notesMaster1.xml" Id="R6906d2ab9fec4638" /><Relationship Type="http://schemas.openxmlformats.org/officeDocument/2006/relationships/presProps" Target="/ppt/presProps.xml" Id="R3b1162c6860d4cbe" /><Relationship Type="http://schemas.openxmlformats.org/officeDocument/2006/relationships/viewProps" Target="/ppt/viewProps.xml" Id="R55efc38463e84d29" /><Relationship Type="http://schemas.openxmlformats.org/officeDocument/2006/relationships/tableStyles" Target="/ppt/tableStyles.xml" Id="R4bd5e44c71c44a3b" /><Relationship Type="http://schemas.openxmlformats.org/officeDocument/2006/relationships/slide" Target="/ppt/slides/slide1.xml" Id="R527cd5c680c744b4" /><Relationship Type="http://schemas.openxmlformats.org/officeDocument/2006/relationships/slide" Target="/ppt/slides/slide2.xml" Id="R5be687efac004272" /><Relationship Type="http://schemas.openxmlformats.org/officeDocument/2006/relationships/slide" Target="/ppt/slides/slide3.xml" Id="Rc76eceb1d8de4eaf" /><Relationship Type="http://schemas.openxmlformats.org/officeDocument/2006/relationships/slide" Target="/ppt/slides/slide4.xml" Id="Rb667abcd44cf408b" /><Relationship Type="http://schemas.openxmlformats.org/officeDocument/2006/relationships/slide" Target="/ppt/slides/slide5.xml" Id="R066190b47f164800" /><Relationship Type="http://schemas.openxmlformats.org/officeDocument/2006/relationships/slide" Target="/ppt/slides/slide6.xml" Id="Rb192efe6f8054e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4cf2f6bb7e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ed9cfba3d4387" /><Relationship Type="http://schemas.openxmlformats.org/officeDocument/2006/relationships/notesMaster" Target="/ppt/notesMasters/notesMaster1.xml" Id="R225c10c9f4004e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5aa64c45da463e" /><Relationship Type="http://schemas.openxmlformats.org/officeDocument/2006/relationships/notesMaster" Target="/ppt/notesMasters/notesMaster1.xml" Id="R0b3f7ef435d4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e9332fae7436d" /><Relationship Type="http://schemas.openxmlformats.org/officeDocument/2006/relationships/notesMaster" Target="/ppt/notesMasters/notesMaster1.xml" Id="Re5449de19a4245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3e2a6bfa64fe5" /><Relationship Type="http://schemas.openxmlformats.org/officeDocument/2006/relationships/notesMaster" Target="/ppt/notesMasters/notesMaster1.xml" Id="Rad8bd9f7646d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1d552c4ff24ba8" /><Relationship Type="http://schemas.openxmlformats.org/officeDocument/2006/relationships/notesMaster" Target="/ppt/notesMasters/notesMaster1.xml" Id="Rf50f43cc5f33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c7da86548e4d55" /><Relationship Type="http://schemas.openxmlformats.org/officeDocument/2006/relationships/notesMaster" Target="/ppt/notesMasters/notesMaster1.xml" Id="Rfc323dd7be2f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ff275872d4c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3a0aea4e04a4a" /><Relationship Type="http://schemas.openxmlformats.org/officeDocument/2006/relationships/slideLayout" Target="/ppt/slideLayouts/slideLayout1.xml" Id="R9050d7da0d9247e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50d7da0d92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7af3276314454" /><Relationship Type="http://schemas.openxmlformats.org/officeDocument/2006/relationships/notesSlide" Target="/ppt/notesSlides/notesSlide1.xml" Id="R47debfcaf6c0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baa355fca447d" /><Relationship Type="http://schemas.openxmlformats.org/officeDocument/2006/relationships/notesSlide" Target="/ppt/notesSlides/notesSlide2.xml" Id="Rf618a0cabd6d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71f80ddcc4e90" /><Relationship Type="http://schemas.openxmlformats.org/officeDocument/2006/relationships/notesSlide" Target="/ppt/notesSlides/notesSlide3.xml" Id="Rcbea2ef9cf474b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d1ec862144d22" /><Relationship Type="http://schemas.openxmlformats.org/officeDocument/2006/relationships/notesSlide" Target="/ppt/notesSlides/notesSlide4.xml" Id="R19d2822692b6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f76ff59bd4087" /><Relationship Type="http://schemas.openxmlformats.org/officeDocument/2006/relationships/notesSlide" Target="/ppt/notesSlides/notesSlide5.xml" Id="R538b4d5474a8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5151db97347ba" /><Relationship Type="http://schemas.openxmlformats.org/officeDocument/2006/relationships/notesSlide" Target="/ppt/notesSlides/notesSlide6.xml" Id="R273950c02aa4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C14D5C4-AD01-429F-A7E8-B3501317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374F9E6-172F-4C44-9490-6C2C880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CI³ LAB  </a:t>
            </a:r>
          </a:p>
        </p:txBody>
      </p:sp>
      <p:sp>
        <p:nvSpPr>
          <p:cNvPr id="3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52B84ACB-5089-4D86-ACAB-FF6FB98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90600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真正可分享的AI工具，
要让别人拿到后就能运行</a:t>
            </a:r>
          </a:p>
        </p:txBody>
      </p:sp>
      <p:sp>
        <p:nvSpPr>
          <p:cNvPr id="4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908078B0-C410-4A32-AFC1-DB88CABE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8858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代码、配置、来源状态和使用说明，必须一起交付。</a:t>
            </a:r>
          </a:p>
        </p:txBody>
      </p:sp>
      <p:sp>
        <p:nvSpPr>
          <p:cNvPr id="5" name="opening-case">
            <a:extLst xmlns:a="http://schemas.openxmlformats.org/drawingml/2006/main">
              <a:ext uri="{FF2B5EF4-FFF2-40B4-BE49-F238E27FC236}">
                <a16:creationId xmlns:a16="http://schemas.microsoft.com/office/drawing/2014/main" id="{CD7197D5-3018-4F48-B61E-C1B608E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案例：Research Radar 每日论文与行业研究简报</a:t>
            </a:r>
          </a:p>
        </p:txBody>
      </p:sp>
      <p:sp>
        <p:nvSpPr>
          <p:cNvPr id="6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508E051D-D44A-4077-B49F-435FDEF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Research Radar · Public Release v0.1.0</a:t>
            </a:r>
          </a:p>
        </p:txBody>
      </p:sp>
      <p:sp>
        <p:nvSpPr>
          <p:cNvPr id="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CBDE632D-FBA3-43C3-804C-607E707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17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68B27A3-D2AB-476D-BB8A-80268227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研究雷达要解决的，不只是“搜到论文”</a:t>
            </a:r>
          </a:p>
        </p:txBody>
      </p:sp>
      <p:sp>
        <p:nvSpPr>
          <p:cNvPr id="2" name="slide2-intro">
            <a:extLst xmlns:a="http://schemas.openxmlformats.org/drawingml/2006/main">
              <a:ext uri="{FF2B5EF4-FFF2-40B4-BE49-F238E27FC236}">
                <a16:creationId xmlns:a16="http://schemas.microsoft.com/office/drawing/2014/main" id="{A043CB2C-360C-4310-833C-268A7EF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真正可用的日报系统，必须把检索、筛选、证据和交付连成一条链。</a:t>
            </a:r>
          </a:p>
        </p:txBody>
      </p:sp>
      <p:sp>
        <p:nvSpPr>
          <p:cNvPr id="3" name="source-1-number">
            <a:extLst xmlns:a="http://schemas.openxmlformats.org/drawingml/2006/main">
              <a:ext uri="{FF2B5EF4-FFF2-40B4-BE49-F238E27FC236}">
                <a16:creationId xmlns:a16="http://schemas.microsoft.com/office/drawing/2014/main" id="{4EDEDA41-133D-4E44-B18D-0DF2E73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文献与知识</a:t>
            </a:r>
          </a:p>
        </p:txBody>
      </p:sp>
      <p:sp>
        <p:nvSpPr>
          <p:cNvPr id="4" name="source-1-title">
            <a:extLst xmlns:a="http://schemas.openxmlformats.org/drawingml/2006/main">
              <a:ext uri="{FF2B5EF4-FFF2-40B4-BE49-F238E27FC236}">
                <a16:creationId xmlns:a16="http://schemas.microsoft.com/office/drawing/2014/main" id="{4C860E8A-099E-415E-9AF7-C9BA356C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定期检索新文献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下载、命名与归档 PDF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补全 DOI 与出版信息</a:t>
            </a:r>
          </a:p>
        </p:txBody>
      </p:sp>
      <p:sp>
        <p:nvSpPr>
          <p:cNvPr id="5" name="source-1-body">
            <a:extLst xmlns:a="http://schemas.openxmlformats.org/drawingml/2006/main">
              <a:ext uri="{FF2B5EF4-FFF2-40B4-BE49-F238E27FC236}">
                <a16:creationId xmlns:a16="http://schemas.microsoft.com/office/drawing/2014/main" id="{57FCB33B-3191-4D8C-879B-923A8CCD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摘要初筛与阅读卡片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整理引用与相关工作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建立标签与主题关联</a:t>
            </a:r>
          </a:p>
        </p:txBody>
      </p:sp>
      <p:sp>
        <p:nvSpPr>
          <p:cNvPr id="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7569CEDD-8B0F-40DA-945D-B6A0DD64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-2-number">
            <a:extLst xmlns:a="http://schemas.openxmlformats.org/drawingml/2006/main">
              <a:ext uri="{FF2B5EF4-FFF2-40B4-BE49-F238E27FC236}">
                <a16:creationId xmlns:a16="http://schemas.microsoft.com/office/drawing/2014/main" id="{8F24A2BB-EB5C-4EB9-8B81-6C948C4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数据与实验</a:t>
            </a:r>
          </a:p>
        </p:txBody>
      </p:sp>
      <p:sp>
        <p:nvSpPr>
          <p:cNvPr id="8" name="source-2-title">
            <a:extLst xmlns:a="http://schemas.openxmlformats.org/drawingml/2006/main">
              <a:ext uri="{FF2B5EF4-FFF2-40B4-BE49-F238E27FC236}">
                <a16:creationId xmlns:a16="http://schemas.microsoft.com/office/drawing/2014/main" id="{F5C3ED6B-1D10-47AA-AA8B-CA56B71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问卷/访谈资料录入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数据清洗与格式转换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缺失值与异常值处理</a:t>
            </a:r>
          </a:p>
        </p:txBody>
      </p:sp>
      <p:sp>
        <p:nvSpPr>
          <p:cNvPr id="9" name="source-2-body">
            <a:extLst xmlns:a="http://schemas.openxmlformats.org/drawingml/2006/main">
              <a:ext uri="{FF2B5EF4-FFF2-40B4-BE49-F238E27FC236}">
                <a16:creationId xmlns:a16="http://schemas.microsoft.com/office/drawing/2014/main" id="{9E63661A-8B94-4124-A10A-7A6D7B2B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重复运行模型与参数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稳健性/消融检验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更新图表与结果表</a:t>
            </a:r>
          </a:p>
        </p:txBody>
      </p:sp>
      <p:sp>
        <p:nvSpPr>
          <p:cNvPr id="10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44ED5A28-1A79-4C37-8B03-130AA7D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urce-3-number">
            <a:extLst xmlns:a="http://schemas.openxmlformats.org/drawingml/2006/main">
              <a:ext uri="{FF2B5EF4-FFF2-40B4-BE49-F238E27FC236}">
                <a16:creationId xmlns:a16="http://schemas.microsoft.com/office/drawing/2014/main" id="{E6E56DE0-FAB3-49FC-948C-087E041C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写作与投稿</a:t>
            </a:r>
          </a:p>
        </p:txBody>
      </p:sp>
      <p:sp>
        <p:nvSpPr>
          <p:cNvPr id="12" name="source-3-title">
            <a:extLst xmlns:a="http://schemas.openxmlformats.org/drawingml/2006/main">
              <a:ext uri="{FF2B5EF4-FFF2-40B4-BE49-F238E27FC236}">
                <a16:creationId xmlns:a16="http://schemas.microsoft.com/office/drawing/2014/main" id="{9857BD06-4818-4808-B51B-9C55420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参考文献排版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调整期刊投稿格式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术语、缩写与编号检查</a:t>
            </a:r>
          </a:p>
        </p:txBody>
      </p:sp>
      <p:sp>
        <p:nvSpPr>
          <p:cNvPr id="13" name="source-3-body">
            <a:extLst xmlns:a="http://schemas.openxmlformats.org/drawingml/2006/main">
              <a:ext uri="{FF2B5EF4-FFF2-40B4-BE49-F238E27FC236}">
                <a16:creationId xmlns:a16="http://schemas.microsoft.com/office/drawing/2014/main" id="{6D52FAE1-75E8-44DC-B8BD-3C533A7F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38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图表标题与交叉引用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整理审稿回复与版本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语言润色与格式复核</a:t>
            </a:r>
          </a:p>
        </p:txBody>
      </p:sp>
      <p:sp>
        <p:nvSpPr>
          <p:cNvPr id="14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C1D8CEB2-C7FF-4E55-BA4C-5B02A6C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4-number">
            <a:extLst xmlns:a="http://schemas.openxmlformats.org/drawingml/2006/main">
              <a:ext uri="{FF2B5EF4-FFF2-40B4-BE49-F238E27FC236}">
                <a16:creationId xmlns:a16="http://schemas.microsoft.com/office/drawing/2014/main" id="{51FED86D-8E04-4AB8-9EB2-DFFEAEB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5260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项目与传播</a:t>
            </a:r>
          </a:p>
        </p:txBody>
      </p:sp>
      <p:sp>
        <p:nvSpPr>
          <p:cNvPr id="16" name="source-4-title">
            <a:extLst xmlns:a="http://schemas.openxmlformats.org/drawingml/2006/main">
              <a:ext uri="{FF2B5EF4-FFF2-40B4-BE49-F238E27FC236}">
                <a16:creationId xmlns:a16="http://schemas.microsoft.com/office/drawing/2014/main" id="{13FD9364-9A4C-499F-9A43-4F58FF9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会议纪要与任务跟踪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周报、进度与成果统计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文件命名与版本归档</a:t>
            </a:r>
          </a:p>
        </p:txBody>
      </p:sp>
      <p:sp>
        <p:nvSpPr>
          <p:cNvPr id="17" name="source-4-body">
            <a:extLst xmlns:a="http://schemas.openxmlformats.org/drawingml/2006/main">
              <a:ext uri="{FF2B5EF4-FFF2-40B4-BE49-F238E27FC236}">
                <a16:creationId xmlns:a16="http://schemas.microsoft.com/office/drawing/2014/main" id="{5D793434-E229-4BE7-B88B-2D483910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伦理/项目材料重复填写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制作PPT、海报与网页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邮件通知与项目简报</a:t>
            </a:r>
          </a:p>
        </p:txBody>
      </p:sp>
      <p:sp>
        <p:nvSpPr>
          <p:cNvPr id="18" name="source-rule-4">
            <a:extLst xmlns:a="http://schemas.openxmlformats.org/drawingml/2006/main">
              <a:ext uri="{FF2B5EF4-FFF2-40B4-BE49-F238E27FC236}">
                <a16:creationId xmlns:a16="http://schemas.microsoft.com/office/drawing/2014/main" id="{160C96D2-274F-4EF8-8874-67F7343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urce-conclusion">
            <a:extLst xmlns:a="http://schemas.openxmlformats.org/drawingml/2006/main">
              <a:ext uri="{FF2B5EF4-FFF2-40B4-BE49-F238E27FC236}">
                <a16:creationId xmlns:a16="http://schemas.microsoft.com/office/drawing/2014/main" id="{B45D140E-2604-47C6-BE74-D4338AE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28600" tIns="1905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选择标准  </a:t>
            </a: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高频重复 / 反馈直观 / 结果可核验 / 已有开放接口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我先选择了一个比较高频、也比较“好玩”的任务：最新文献跟踪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定期找新文献  →  清理与去重  →  摘要初筛  →  建立主题关联  →  生成研究简报</a:t>
            </a:r>
          </a:p>
        </p:txBody>
      </p:sp>
      <p:sp>
        <p:nvSpPr>
          <p:cNvPr id="2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8E9138B3-7C44-4F14-86BC-B6A42A9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Research Radar · Public Release v0.1.0</a:t>
            </a:r>
          </a:p>
        </p:txBody>
      </p:sp>
      <p:sp>
        <p:nvSpPr>
          <p:cNvPr id="2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3673D77-E0AC-47D4-BBB7-D10FC010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254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4-title">
            <a:extLst xmlns:a="http://schemas.openxmlformats.org/drawingml/2006/main">
              <a:ext uri="{FF2B5EF4-FFF2-40B4-BE49-F238E27FC236}">
                <a16:creationId xmlns:a16="http://schemas.microsoft.com/office/drawing/2014/main" id="{D7DADDB7-1E1D-41D4-B60F-62A1F4A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这次交付的是可运行系统，不是参数模板</a:t>
            </a:r>
          </a:p>
        </p:txBody>
      </p:sp>
      <p:sp>
        <p:nvSpPr>
          <p:cNvPr id="2" name="slide4-subtitle">
            <a:extLst xmlns:a="http://schemas.openxmlformats.org/drawingml/2006/main">
              <a:ext uri="{FF2B5EF4-FFF2-40B4-BE49-F238E27FC236}">
                <a16:creationId xmlns:a16="http://schemas.microsoft.com/office/drawing/2014/main" id="{EE29FCE4-B1FC-429E-B188-76A51BD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标准库实现 · Codex + Obsidian · 本地优先 · 来源失败可见</a:t>
            </a:r>
          </a:p>
        </p:txBody>
      </p:sp>
      <p:sp>
        <p:nvSpPr>
          <p:cNvPr id="3" name="funnel-numbers">
            <a:extLst xmlns:a="http://schemas.openxmlformats.org/drawingml/2006/main">
              <a:ext uri="{FF2B5EF4-FFF2-40B4-BE49-F238E27FC236}">
                <a16:creationId xmlns:a16="http://schemas.microsoft.com/office/drawing/2014/main" id="{8E3583A8-6BB4-4CB1-BCD2-DA0D3EE6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2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7路来源  →  统一模型  →  评分去重  →  每日≤5篇</a:t>
            </a:r>
          </a:p>
        </p:txBody>
      </p:sp>
      <p:sp>
        <p:nvSpPr>
          <p:cNvPr id="4" name="funnel-labels">
            <a:extLst xmlns:a="http://schemas.openxmlformats.org/drawingml/2006/main">
              <a:ext uri="{FF2B5EF4-FFF2-40B4-BE49-F238E27FC236}">
                <a16:creationId xmlns:a16="http://schemas.microsoft.com/office/drawing/2014/main" id="{F82DA9F5-0695-4783-A732-D49CBBA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0030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独立适配器          同一字段          同一规则          同一份日报</a:t>
            </a:r>
          </a:p>
        </p:txBody>
      </p:sp>
      <p:sp>
        <p:nvSpPr>
          <p:cNvPr id="5" name="stat-1-bg">
            <a:extLst xmlns:a="http://schemas.openxmlformats.org/drawingml/2006/main">
              <a:ext uri="{FF2B5EF4-FFF2-40B4-BE49-F238E27FC236}">
                <a16:creationId xmlns:a16="http://schemas.microsoft.com/office/drawing/2014/main" id="{A308A523-DDD0-4EE7-B417-B040CF2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-2-bg">
            <a:extLst xmlns:a="http://schemas.openxmlformats.org/drawingml/2006/main">
              <a:ext uri="{FF2B5EF4-FFF2-40B4-BE49-F238E27FC236}">
                <a16:creationId xmlns:a16="http://schemas.microsoft.com/office/drawing/2014/main" id="{127393DB-D547-4A3C-8EA8-5DBD0916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05150"/>
            <a:ext cx="35623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3-bg">
            <a:extLst xmlns:a="http://schemas.openxmlformats.org/drawingml/2006/main">
              <a:ext uri="{FF2B5EF4-FFF2-40B4-BE49-F238E27FC236}">
                <a16:creationId xmlns:a16="http://schemas.microsoft.com/office/drawing/2014/main" id="{8FF1894D-6C83-4281-8D0D-9CBCC251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0454A9A9-CC66-4625-A2AA-91B7744B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0密钥</a:t>
            </a:r>
          </a:p>
        </p:txBody>
      </p:sp>
      <p:sp>
        <p:nvSpPr>
          <p:cNvPr id="9" name="stat-1-body">
            <a:extLst xmlns:a="http://schemas.openxmlformats.org/drawingml/2006/main">
              <a:ext uri="{FF2B5EF4-FFF2-40B4-BE49-F238E27FC236}">
                <a16:creationId xmlns:a16="http://schemas.microsoft.com/office/drawing/2014/main" id="{CA825B74-2E2C-4F34-929C-055BFC25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857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基础来源先运行
密钥来源后增强</a:t>
            </a:r>
          </a:p>
        </p:txBody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AA528013-4FCE-4C7E-813B-40AF331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2种策略</a:t>
            </a:r>
          </a:p>
        </p:txBody>
      </p:sp>
      <p:sp>
        <p:nvSpPr>
          <p:cNvPr id="11" name="stat-2-body">
            <a:extLst xmlns:a="http://schemas.openxmlformats.org/drawingml/2006/main">
              <a:ext uri="{FF2B5EF4-FFF2-40B4-BE49-F238E27FC236}">
                <a16:creationId xmlns:a16="http://schemas.microsoft.com/office/drawing/2014/main" id="{3A6B781E-037F-4C5B-A481-D99F4808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76750"/>
            <a:ext cx="2857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目标期刊可优先
也可严格限定</a:t>
            </a:r>
          </a:p>
        </p:txBody>
      </p:sp>
      <p:sp>
        <p:nvSpPr>
          <p:cNvPr id="12" name="stat-3">
            <a:extLst xmlns:a="http://schemas.openxmlformats.org/drawingml/2006/main">
              <a:ext uri="{FF2B5EF4-FFF2-40B4-BE49-F238E27FC236}">
                <a16:creationId xmlns:a16="http://schemas.microsoft.com/office/drawing/2014/main" id="{65B46421-87E1-4C5D-A0EA-500DB95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295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t>状态可见</a:t>
            </a:r>
          </a:p>
        </p:txBody>
      </p:sp>
      <p:sp>
        <p:nvSpPr>
          <p:cNvPr id="13" name="stat-3-body">
            <a:extLst xmlns:a="http://schemas.openxmlformats.org/drawingml/2006/main">
              <a:ext uri="{FF2B5EF4-FFF2-40B4-BE49-F238E27FC236}">
                <a16:creationId xmlns:a16="http://schemas.microsoft.com/office/drawing/2014/main" id="{3CF03F84-529C-4DF0-AD3A-88E07379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2857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成功/限流/失败
不会混成“无结果”</a:t>
            </a:r>
          </a:p>
        </p:txBody>
      </p:sp>
      <p:sp>
        <p:nvSpPr>
          <p:cNvPr id="14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BA9377EC-C1B2-41B1-8F52-7ACFF191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来源：research-radar v0.1.0 实现与公开接口说明</a:t>
            </a:r>
          </a:p>
        </p:txBody>
      </p:sp>
      <p:sp>
        <p:nvSpPr>
          <p:cNvPr id="1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B1AE512-4AA6-497C-BB79-66506CC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701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D9A4F21A-ABAB-4042-820A-E3743064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外部积木只有经过适配，才能进入自己的系统</a:t>
            </a:r>
          </a:p>
        </p:txBody>
      </p:sp>
      <p:sp>
        <p:nvSpPr>
          <p:cNvPr id="2" name="slide2-intro">
            <a:extLst xmlns:a="http://schemas.openxmlformats.org/drawingml/2006/main">
              <a:ext uri="{FF2B5EF4-FFF2-40B4-BE49-F238E27FC236}">
                <a16:creationId xmlns:a16="http://schemas.microsoft.com/office/drawing/2014/main" id="{EB4F8B9D-8240-4D86-A64C-62F5E8F2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先核查许可证、稳定性和官方接口，再统一成可替换的适配器。</a:t>
            </a:r>
          </a:p>
        </p:txBody>
      </p:sp>
      <p:sp>
        <p:nvSpPr>
          <p:cNvPr id="3" name="source-1-number">
            <a:extLst xmlns:a="http://schemas.openxmlformats.org/drawingml/2006/main">
              <a:ext uri="{FF2B5EF4-FFF2-40B4-BE49-F238E27FC236}">
                <a16:creationId xmlns:a16="http://schemas.microsoft.com/office/drawing/2014/main" id="{6B227405-8CBC-490A-85A9-28F4A796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4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4" name="source-1-title">
            <a:extLst xmlns:a="http://schemas.openxmlformats.org/drawingml/2006/main">
              <a:ext uri="{FF2B5EF4-FFF2-40B4-BE49-F238E27FC236}">
                <a16:creationId xmlns:a16="http://schemas.microsoft.com/office/drawing/2014/main" id="{D4B466B8-E574-4E17-B047-54DDEF87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项目参考</a:t>
            </a:r>
          </a:p>
        </p:txBody>
      </p:sp>
      <p:sp>
        <p:nvSpPr>
          <p:cNvPr id="5" name="source-1-body">
            <a:extLst xmlns:a="http://schemas.openxmlformats.org/drawingml/2006/main">
              <a:ext uri="{FF2B5EF4-FFF2-40B4-BE49-F238E27FC236}">
                <a16:creationId xmlns:a16="http://schemas.microsoft.com/office/drawing/2014/main" id="{294A213D-60B9-41EC-AC8E-F2D51E77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381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DailyPaper
paper-search-mcp</a:t>
            </a:r>
          </a:p>
        </p:txBody>
      </p:sp>
      <p:sp>
        <p:nvSpPr>
          <p:cNvPr id="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CF4E95C0-BC2C-432A-A6AC-C5E232AC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-2-number">
            <a:extLst xmlns:a="http://schemas.openxmlformats.org/drawingml/2006/main">
              <a:ext uri="{FF2B5EF4-FFF2-40B4-BE49-F238E27FC236}">
                <a16:creationId xmlns:a16="http://schemas.microsoft.com/office/drawing/2014/main" id="{69C1C82B-B272-437A-971B-3B6E76D7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114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8" name="source-2-title">
            <a:extLst xmlns:a="http://schemas.openxmlformats.org/drawingml/2006/main">
              <a:ext uri="{FF2B5EF4-FFF2-40B4-BE49-F238E27FC236}">
                <a16:creationId xmlns:a16="http://schemas.microsoft.com/office/drawing/2014/main" id="{D5048F6C-695D-4FC9-8426-1327DDD4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学术API</a:t>
            </a:r>
          </a:p>
        </p:txBody>
      </p:sp>
      <p:sp>
        <p:nvSpPr>
          <p:cNvPr id="9" name="source-2-body">
            <a:extLst xmlns:a="http://schemas.openxmlformats.org/drawingml/2006/main">
              <a:ext uri="{FF2B5EF4-FFF2-40B4-BE49-F238E27FC236}">
                <a16:creationId xmlns:a16="http://schemas.microsoft.com/office/drawing/2014/main" id="{2CE274BE-D8E4-43D0-8FD5-1DA4F276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05200"/>
            <a:ext cx="2381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Crossref · arXiv
S2 · OpenAlex</a:t>
            </a:r>
          </a:p>
        </p:txBody>
      </p:sp>
      <p:sp>
        <p:nvSpPr>
          <p:cNvPr id="10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0A8D52E8-EE59-4B18-95F0-6D779C6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urce-3-number">
            <a:extLst xmlns:a="http://schemas.openxmlformats.org/drawingml/2006/main">
              <a:ext uri="{FF2B5EF4-FFF2-40B4-BE49-F238E27FC236}">
                <a16:creationId xmlns:a16="http://schemas.microsoft.com/office/drawing/2014/main" id="{B6B43CF1-5538-4D39-AC12-E5901C4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14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2" name="source-3-title">
            <a:extLst xmlns:a="http://schemas.openxmlformats.org/drawingml/2006/main">
              <a:ext uri="{FF2B5EF4-FFF2-40B4-BE49-F238E27FC236}">
                <a16:creationId xmlns:a16="http://schemas.microsoft.com/office/drawing/2014/main" id="{327AEA7A-699F-4DEC-A563-3894EC0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自定义渠道</a:t>
            </a:r>
          </a:p>
        </p:txBody>
      </p:sp>
      <p:sp>
        <p:nvSpPr>
          <p:cNvPr id="13" name="source-3-body">
            <a:extLst xmlns:a="http://schemas.openxmlformats.org/drawingml/2006/main">
              <a:ext uri="{FF2B5EF4-FFF2-40B4-BE49-F238E27FC236}">
                <a16:creationId xmlns:a16="http://schemas.microsoft.com/office/drawing/2014/main" id="{13122628-1C52-449A-88D0-E016AD8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2381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RSS / Atom
大学 · 政府 · 行业网页</a:t>
            </a:r>
          </a:p>
        </p:txBody>
      </p:sp>
      <p:sp>
        <p:nvSpPr>
          <p:cNvPr id="14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E3BA47F3-6F0F-4878-8C6A-342B4AC5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4-number">
            <a:extLst xmlns:a="http://schemas.openxmlformats.org/drawingml/2006/main">
              <a:ext uri="{FF2B5EF4-FFF2-40B4-BE49-F238E27FC236}">
                <a16:creationId xmlns:a16="http://schemas.microsoft.com/office/drawing/2014/main" id="{FD96D8F3-C521-44D5-91C0-AC887319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14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6" name="source-4-title">
            <a:extLst xmlns:a="http://schemas.openxmlformats.org/drawingml/2006/main">
              <a:ext uri="{FF2B5EF4-FFF2-40B4-BE49-F238E27FC236}">
                <a16:creationId xmlns:a16="http://schemas.microsoft.com/office/drawing/2014/main" id="{52CF359F-622C-47E1-91DA-6BE855B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本地交付</a:t>
            </a:r>
          </a:p>
        </p:txBody>
      </p:sp>
      <p:sp>
        <p:nvSpPr>
          <p:cNvPr id="17" name="source-4-body">
            <a:extLst xmlns:a="http://schemas.openxmlformats.org/drawingml/2006/main">
              <a:ext uri="{FF2B5EF4-FFF2-40B4-BE49-F238E27FC236}">
                <a16:creationId xmlns:a16="http://schemas.microsoft.com/office/drawing/2014/main" id="{3B3D8B08-F6B7-4870-85D6-BD8CD50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05200"/>
            <a:ext cx="2381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Codex · Obsidian
终端 · 可选飞书</a:t>
            </a:r>
          </a:p>
        </p:txBody>
      </p:sp>
      <p:sp>
        <p:nvSpPr>
          <p:cNvPr id="18" name="source-rule-4">
            <a:extLst xmlns:a="http://schemas.openxmlformats.org/drawingml/2006/main">
              <a:ext uri="{FF2B5EF4-FFF2-40B4-BE49-F238E27FC236}">
                <a16:creationId xmlns:a16="http://schemas.microsoft.com/office/drawing/2014/main" id="{672BA252-0922-4AA7-9719-439A6DC6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urce-conclusion">
            <a:extLst xmlns:a="http://schemas.openxmlformats.org/drawingml/2006/main">
              <a:ext uri="{FF2B5EF4-FFF2-40B4-BE49-F238E27FC236}">
                <a16:creationId xmlns:a16="http://schemas.microsoft.com/office/drawing/2014/main" id="{83077035-DA10-402D-A00C-7A188A2B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借鉴不等于复制：统一接口之后，每个来源都能单独替换。</a:t>
            </a:r>
          </a:p>
        </p:txBody>
      </p:sp>
      <p:sp>
        <p:nvSpPr>
          <p:cNvPr id="2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7F83950F-56DE-4688-BFFC-1BA7198D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Research Radar · Public Release v0.1.0</a:t>
            </a:r>
          </a:p>
        </p:txBody>
      </p:sp>
      <p:sp>
        <p:nvSpPr>
          <p:cNvPr id="2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218D5C5-C03E-488C-9784-470852C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8761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5-title">
            <a:extLst xmlns:a="http://schemas.openxmlformats.org/drawingml/2006/main">
              <a:ext uri="{FF2B5EF4-FFF2-40B4-BE49-F238E27FC236}">
                <a16:creationId xmlns:a16="http://schemas.microsoft.com/office/drawing/2014/main" id="{22E39C85-F163-4BD6-830E-119F4AA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关键词、期刊、渠道和保存位置都能自己改</a:t>
            </a:r>
          </a:p>
        </p:txBody>
      </p:sp>
      <p:sp>
        <p:nvSpPr>
          <p:cNvPr id="2" name="formula-bg">
            <a:extLst xmlns:a="http://schemas.openxmlformats.org/drawingml/2006/main">
              <a:ext uri="{FF2B5EF4-FFF2-40B4-BE49-F238E27FC236}">
                <a16:creationId xmlns:a16="http://schemas.microsoft.com/office/drawing/2014/main" id="{4E5B4675-8CA2-46D8-9C4B-CD4EBC0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095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97EBF762-777B-466A-B9F3-63C61AA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429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研究方向
+
期刊 / ISSN
+
RSS / 网页
+
保存目录</a:t>
            </a:r>
          </a:p>
        </p:txBody>
      </p:sp>
      <p:sp>
        <p:nvSpPr>
          <p:cNvPr id="4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C0A014DE-8160-4A15-B4BD-E99B629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21C06FA-82AA-4468-A8C0-2A8EDD3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修改研究方向、关键词和检索式</a:t>
            </a:r>
          </a:p>
        </p:txBody>
      </p:sp>
      <p:sp>
        <p:nvSpPr>
          <p:cNvPr id="6" name="step-rule-1">
            <a:extLst xmlns:a="http://schemas.openxmlformats.org/drawingml/2006/main">
              <a:ext uri="{FF2B5EF4-FFF2-40B4-BE49-F238E27FC236}">
                <a16:creationId xmlns:a16="http://schemas.microsoft.com/office/drawing/2014/main" id="{21D3D37F-C183-4B5E-87C4-5B3FA4C6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003469E1-0F10-4667-9B17-858BEAD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67E42134-CE1B-43C1-9C20-EB268D6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添加期刊、ISSN、作者与种子论文</a:t>
            </a:r>
          </a:p>
        </p:txBody>
      </p:sp>
      <p:sp>
        <p:nvSpPr>
          <p:cNvPr id="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443A586F-B120-40AE-AFEB-FE74013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D5534F50-3098-4111-9BE6-1371810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21D6CBB7-5DEF-47E7-9975-30442E01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启用或关闭API、RSS和官方网页</a:t>
            </a:r>
          </a:p>
        </p:txBody>
      </p:sp>
      <p:sp>
        <p:nvSpPr>
          <p:cNvPr id="12" name="step-rule-3">
            <a:extLst xmlns:a="http://schemas.openxmlformats.org/drawingml/2006/main">
              <a:ext uri="{FF2B5EF4-FFF2-40B4-BE49-F238E27FC236}">
                <a16:creationId xmlns:a16="http://schemas.microsoft.com/office/drawing/2014/main" id="{4D6D46A0-0233-46D2-B4AC-12F2911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005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C9DDA06C-FD34-4E2A-AA78-54BE1968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0230E4CF-6AF5-4C7F-93DC-A13D792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指定日报、运行记录和主题保存位置</a:t>
            </a:r>
          </a:p>
        </p:txBody>
      </p:sp>
      <p:sp>
        <p:nvSpPr>
          <p:cNvPr id="15" name="closing">
            <a:extLst xmlns:a="http://schemas.openxmlformats.org/drawingml/2006/main">
              <a:ext uri="{FF2B5EF4-FFF2-40B4-BE49-F238E27FC236}">
                <a16:creationId xmlns:a16="http://schemas.microsoft.com/office/drawing/2014/main" id="{EFCE30FC-21BA-4D3E-B19C-C09226E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67350"/>
            <a:ext cx="645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修改后先 validate 和 doctor，再生成日报。</a:t>
            </a:r>
          </a:p>
        </p:txBody>
      </p:sp>
      <p:sp>
        <p:nvSpPr>
          <p:cNvPr id="16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E1AD0ADC-F42E-4784-B2C1-44350DF4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Research Radar · Public Release v0.1.0</a:t>
            </a:r>
          </a:p>
        </p:txBody>
      </p:sp>
      <p:sp>
        <p:nvSpPr>
          <p:cNvPr id="1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A2B0142-97A4-432D-A7E2-FEA58576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53659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5-title">
            <a:extLst xmlns:a="http://schemas.openxmlformats.org/drawingml/2006/main">
              <a:ext uri="{FF2B5EF4-FFF2-40B4-BE49-F238E27FC236}">
                <a16:creationId xmlns:a16="http://schemas.microsoft.com/office/drawing/2014/main" id="{22E39C85-F163-4BD6-830E-119F4AA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三条命令跑通，之后交给每日任务</a:t>
            </a:r>
          </a:p>
        </p:txBody>
      </p:sp>
      <p:sp>
        <p:nvSpPr>
          <p:cNvPr id="2" name="formula-bg">
            <a:extLst xmlns:a="http://schemas.openxmlformats.org/drawingml/2006/main">
              <a:ext uri="{FF2B5EF4-FFF2-40B4-BE49-F238E27FC236}">
                <a16:creationId xmlns:a16="http://schemas.microsoft.com/office/drawing/2014/main" id="{4E5B4675-8CA2-46D8-9C4B-CD4EBC0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095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97EBF762-777B-466A-B9F3-63C61AA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429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init
+
doctor
+
run
+
daily</a:t>
            </a:r>
          </a:p>
        </p:txBody>
      </p:sp>
      <p:sp>
        <p:nvSpPr>
          <p:cNvPr id="4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C0A014DE-8160-4A15-B4BD-E99B629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21C06FA-82AA-4468-A8C0-2A8EDD3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克隆公开仓库，确认 Python 3.11+</a:t>
            </a:r>
          </a:p>
        </p:txBody>
      </p:sp>
      <p:sp>
        <p:nvSpPr>
          <p:cNvPr id="6" name="step-rule-1">
            <a:extLst xmlns:a="http://schemas.openxmlformats.org/drawingml/2006/main">
              <a:ext uri="{FF2B5EF4-FFF2-40B4-BE49-F238E27FC236}">
                <a16:creationId xmlns:a16="http://schemas.microsoft.com/office/drawing/2014/main" id="{21D3D37F-C183-4B5E-87C4-5B3FA4C6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003469E1-0F10-4667-9B17-858BEAD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67E42134-CE1B-43C1-9C20-EB268D6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初始化 CI3 模板或空白模板</a:t>
            </a:r>
          </a:p>
        </p:txBody>
      </p:sp>
      <p:sp>
        <p:nvSpPr>
          <p:cNvPr id="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443A586F-B120-40AE-AFEB-FE74013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D5534F50-3098-4111-9BE6-1371810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21D6CBB7-5DEF-47E7-9975-30442E01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先无密钥生成第一份本地日报</a:t>
            </a:r>
          </a:p>
        </p:txBody>
      </p:sp>
      <p:sp>
        <p:nvSpPr>
          <p:cNvPr id="12" name="step-rule-3">
            <a:extLst xmlns:a="http://schemas.openxmlformats.org/drawingml/2006/main">
              <a:ext uri="{FF2B5EF4-FFF2-40B4-BE49-F238E27FC236}">
                <a16:creationId xmlns:a16="http://schemas.microsoft.com/office/drawing/2014/main" id="{4D6D46A0-0233-46D2-B4AC-12F2911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005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C9DDA06C-FD34-4E2A-AA78-54BE1968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0230E4CF-6AF5-4C7F-93DC-A13D792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561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t>再安装本地 Codex 每日任务</a:t>
            </a:r>
          </a:p>
        </p:txBody>
      </p:sp>
      <p:sp>
        <p:nvSpPr>
          <p:cNvPr id="15" name="closing">
            <a:extLst xmlns:a="http://schemas.openxmlformats.org/drawingml/2006/main">
              <a:ext uri="{FF2B5EF4-FFF2-40B4-BE49-F238E27FC236}">
                <a16:creationId xmlns:a16="http://schemas.microsoft.com/office/drawing/2014/main" id="{EFCE30FC-21BA-4D3E-B19C-C09226E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67350"/>
            <a:ext cx="645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先跑通，再按自己的研究方向持续调整。</a:t>
            </a:r>
          </a:p>
        </p:txBody>
      </p:sp>
      <p:sp>
        <p:nvSpPr>
          <p:cNvPr id="16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E1AD0ADC-F42E-4784-B2C1-44350DF4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github.com/JBMovingCastle/research-radar</a:t>
            </a:r>
          </a:p>
        </p:txBody>
      </p:sp>
      <p:sp>
        <p:nvSpPr>
          <p:cNvPr id="1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A2B0142-97A4-432D-A7E2-FEA58576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53659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2026-07-20T21:28:15.4810000Z</dcterms:created>
  <dcterms:modified xsi:type="dcterms:W3CDTF">2026-07-20T21:28:15.4810000Z</dcterms:modified>
</coreProperties>
</file>